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D1B2A"/>
                </a:solidFill>
                <a:latin typeface="Arial"/>
              </a:rPr>
              <a:t>Precisión · Recall · F1-Score por clase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Precisión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Auto/Cebra</c:v>
                  </c:pt>
                  <c:pt idx="1">
                    <c:v>Casco</c:v>
                  </c:pt>
                  <c:pt idx="2">
                    <c:v>Cruzando Rojo</c:v>
                  </c:pt>
                  <c:pt idx="3">
                    <c:v>Sin Casco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0.7143</c:v>
                </c:pt>
                <c:pt idx="1">
                  <c:v>0.6176</c:v>
                </c:pt>
                <c:pt idx="2">
                  <c:v>0.9104</c:v>
                </c:pt>
                <c:pt idx="3">
                  <c:v>0.8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Auto/Cebra</c:v>
                  </c:pt>
                  <c:pt idx="1">
                    <c:v>Casco</c:v>
                  </c:pt>
                  <c:pt idx="2">
                    <c:v>Cruzando Rojo</c:v>
                  </c:pt>
                  <c:pt idx="3">
                    <c:v>Sin Casco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0.5</c:v>
                </c:pt>
                <c:pt idx="1">
                  <c:v>0.875</c:v>
                </c:pt>
                <c:pt idx="2">
                  <c:v>1</c:v>
                </c:pt>
                <c:pt idx="3">
                  <c:v>0.3478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Auto/Cebra</c:v>
                  </c:pt>
                  <c:pt idx="1">
                    <c:v>Casco</c:v>
                  </c:pt>
                  <c:pt idx="2">
                    <c:v>Cruzando Rojo</c:v>
                  </c:pt>
                  <c:pt idx="3">
                    <c:v>Sin Casco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0.5882</c:v>
                </c:pt>
                <c:pt idx="1">
                  <c:v>0.7241</c:v>
                </c:pt>
                <c:pt idx="2">
                  <c:v>0.9531</c:v>
                </c:pt>
                <c:pt idx="3">
                  <c:v>0.4848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el problema: Bolivia está rezagada en tecnología de control de tránsito. El proyecto propone usar el celular como herramienta accesible.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Bolivia tiene un rezago notable. El mundo ya lleva más de una década implementando IA en tránsito. Esta brecha justifica el proyecto.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sistema activa/desactiva modelos según el estado del semáforo para ahorrar RAM. MobileNet V2 fue elegido por su ligereza en dispositivos móviles.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Solo 'cruzando_rojo' supera el umbral de 0.80 en todas las métricas. Las demás clases tienen generalización incompleta por escasez de datos.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proyecto tiene una base sólida. Los próximos pasos clave son: más datos, completar el modelo de semáforos y publicar el APK.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731520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Detección de Infracciones del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Código de Tránsito de Bolivia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través de un celular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Israel Gutierrez Lara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 ·  Universidad Católica Boliviana San Pablo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0891B2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1605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Cruce en rojo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416052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0891B2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41605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casco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52160" y="416052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0891B2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0" y="41605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paso de cebra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 y Problema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374904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515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🇧🇴  Bolivia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34747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Último avance: multas electrónicas anunciadas en 2025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sistemas automáticos de detección de infracciones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dependencia de control policial manual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Corrupción asociada al sistema actual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0" y="960120"/>
            <a:ext cx="374904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166360" y="10515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🌎  Resto del mundo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166360" y="1508760"/>
            <a:ext cx="34747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Brasil: sistemas ITS en Curitiba desde 2013 (€15M)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Cámaras reducen accidentes fatales del 40% al 11%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automática de cascos con YOLOv5/v8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Bogotá: simulación vial con Big Data e IA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Metodología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065A8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058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162763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Videos en rojo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· Reddit · Ing. Jaldin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468880" y="96012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065A8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10058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156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468880" y="162763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Imágenes con casco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68880" y="192024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Roboflow dataset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0" y="96012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065A8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0" y="10058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148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572000" y="162763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Imágenes sin casco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0" y="192024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Roboflow dataset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675120" y="96012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065A8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75120" y="10058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675120" y="162763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de cebra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675120" y="192024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Roboflow dataset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" y="24231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sistema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2834640"/>
            <a:ext cx="1234440" cy="1188720"/>
          </a:xfrm>
          <a:prstGeom prst="roundRect">
            <a:avLst>
              <a:gd name="adj" fmla="val 7692"/>
            </a:avLst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2834640"/>
            <a:ext cx="1234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Cámara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celular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508760" y="3429000"/>
            <a:ext cx="13716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0" y="2834640"/>
            <a:ext cx="1234440" cy="1188720"/>
          </a:xfrm>
          <a:prstGeom prst="roundRect">
            <a:avLst>
              <a:gd name="adj" fmla="val 7692"/>
            </a:avLst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45920" y="2834640"/>
            <a:ext cx="1234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(detector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semáforo)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880360" y="3429000"/>
            <a:ext cx="13716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017520" y="2834640"/>
            <a:ext cx="1234440" cy="1188720"/>
          </a:xfrm>
          <a:prstGeom prst="roundRect">
            <a:avLst>
              <a:gd name="adj" fmla="val 7692"/>
            </a:avLst>
          </a:prstGeom>
          <a:solidFill>
            <a:srgbClr val="D9770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17520" y="2834640"/>
            <a:ext cx="1234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¿Rojo?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251960" y="3429000"/>
            <a:ext cx="13716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89120" y="2834640"/>
            <a:ext cx="1234440" cy="1188720"/>
          </a:xfrm>
          <a:prstGeom prst="roundRect">
            <a:avLst>
              <a:gd name="adj" fmla="val 7692"/>
            </a:avLst>
          </a:prstGeom>
          <a:solidFill>
            <a:srgbClr val="DC262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0" y="2834640"/>
            <a:ext cx="1234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activos: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rojo + cebra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623560" y="3429000"/>
            <a:ext cx="13716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760720" y="2834640"/>
            <a:ext cx="1234440" cy="1188720"/>
          </a:xfrm>
          <a:prstGeom prst="roundRect">
            <a:avLst>
              <a:gd name="adj" fmla="val 7692"/>
            </a:avLst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60720" y="2834640"/>
            <a:ext cx="1234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 V2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(casco)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995160" y="3429000"/>
            <a:ext cx="13716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132320" y="2834640"/>
            <a:ext cx="1234440" cy="1188720"/>
          </a:xfrm>
          <a:prstGeom prst="roundRect">
            <a:avLst>
              <a:gd name="adj" fmla="val 7692"/>
            </a:avLst>
          </a:prstGeom>
          <a:solidFill>
            <a:srgbClr val="16A3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32320" y="2834640"/>
            <a:ext cx="1234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de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infracción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65760" y="4206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70%  ·  Valid 10%  ·  Test 20%  ·  Data augmentation  ·  Early stopping  ·  Dropout  ·  Regularización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960120"/>
          <a:ext cx="53035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960120"/>
            <a:ext cx="28346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080760" y="99669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Cruzando Rojo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080760" y="127101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F1: 0.95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040880" y="1289304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Supera umbral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943600" y="1847088"/>
            <a:ext cx="28346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080760" y="188366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Casco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080760" y="21579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F1: 0.72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040880" y="2176272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Bajo umbral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943600" y="2734056"/>
            <a:ext cx="28346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080760" y="277063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Casco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080760" y="3044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F1: 0.48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040880" y="3063240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Bajo umbral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943600" y="3621024"/>
            <a:ext cx="28346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080760" y="3657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Auto/Cebra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080760" y="39319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F1: 0.59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040880" y="395020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Bajo umbral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943600" y="45262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 mínimo requerido: 0.80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 y Trabajo Futuro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846320" cy="749808"/>
          </a:xfrm>
          <a:prstGeom prst="roundRect">
            <a:avLst>
              <a:gd name="adj" fmla="val 12195"/>
            </a:avLst>
          </a:prstGeom>
          <a:solidFill>
            <a:srgbClr val="065A8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05840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La arquitectura híbrida con MobileNet V2 es técnicamente viable para dispositivos móviles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4846320" cy="749808"/>
          </a:xfrm>
          <a:prstGeom prst="roundRect">
            <a:avLst>
              <a:gd name="adj" fmla="val 12195"/>
            </a:avLst>
          </a:prstGeom>
          <a:solidFill>
            <a:srgbClr val="065A8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874520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Cruzando en rojo alcanzó F1=0.95, demostrando que el enfoque funciona con datos suficientes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697480"/>
            <a:ext cx="4846320" cy="749808"/>
          </a:xfrm>
          <a:prstGeom prst="roundRect">
            <a:avLst>
              <a:gd name="adj" fmla="val 12195"/>
            </a:avLst>
          </a:prstGeom>
          <a:solidFill>
            <a:srgbClr val="065A8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743200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El modelo no generalizó completamente por escasez de datos de entrenamiento (~300 imágenes)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566160"/>
            <a:ext cx="4846320" cy="749808"/>
          </a:xfrm>
          <a:prstGeom prst="roundRect">
            <a:avLst>
              <a:gd name="adj" fmla="val 12195"/>
            </a:avLst>
          </a:prstGeom>
          <a:solidFill>
            <a:srgbClr val="065A8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3611880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El APK y el modelo de detección de semáforos quedaron inconclusos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0" y="960120"/>
            <a:ext cx="3291840" cy="3520440"/>
          </a:xfrm>
          <a:prstGeom prst="roundRect">
            <a:avLst>
              <a:gd name="adj" fmla="val 2778"/>
            </a:avLst>
          </a:prstGeom>
          <a:solidFill>
            <a:srgbClr val="0A2540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623560" y="105156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Futuro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623560" y="1463040"/>
            <a:ext cx="30175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Ampliar dataset a +2,000 imágenes por clase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Completar modelo de detección de semáforos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y publicar el APK funcional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Incorporar datos locales de Santa Cruz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con YOLOv8 como arquitectura alternativa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Detección de Infracciones de Tránsito - Bolivia</dc:title>
  <dc:subject>PptxGenJS Presentation</dc:subject>
  <dc:creator>PptxGenJS</dc:creator>
  <cp:lastModifiedBy>PptxGenJS</cp:lastModifiedBy>
  <cp:revision>1</cp:revision>
  <dcterms:created xsi:type="dcterms:W3CDTF">2026-06-10T19:15:24Z</dcterms:created>
  <dcterms:modified xsi:type="dcterms:W3CDTF">2026-06-10T19:15:24Z</dcterms:modified>
</cp:coreProperties>
</file>